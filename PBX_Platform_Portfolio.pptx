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84"/>
    <p:restoredTop sz="94699"/>
  </p:normalViewPr>
  <p:slideViewPr>
    <p:cSldViewPr snapToGrid="0" snapToObjects="1">
      <p:cViewPr varScale="1">
        <p:scale>
          <a:sx n="210" d="100"/>
          <a:sy n="210" d="100"/>
        </p:scale>
        <p:origin x="1176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12700" cy="100584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0" y="1371600"/>
            <a:ext cx="12700" cy="100584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0" y="2743200"/>
            <a:ext cx="12700" cy="100584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0" y="4114800"/>
            <a:ext cx="12700" cy="100584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5486400"/>
            <a:ext cx="12700" cy="100584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PORTFOLIO  ·  2025 –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PBX 콜센터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D4FF"/>
                </a:solidFill>
              </a:rPr>
              <a:t>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D1"/>
                </a:solidFill>
              </a:rPr>
              <a:t>Asterisk 20 기반 멀티 테넌트 콜센터 통합 관리 시스템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434840"/>
            <a:ext cx="45720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4360" y="4754880"/>
            <a:ext cx="1463040" cy="27432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Next.js 14</a:t>
            </a:r>
          </a:p>
        </p:txBody>
      </p:sp>
      <p:sp>
        <p:nvSpPr>
          <p:cNvPr id="15" name="Oval 14"/>
          <p:cNvSpPr/>
          <p:nvPr/>
        </p:nvSpPr>
        <p:spPr>
          <a:xfrm>
            <a:off x="2194560" y="4754880"/>
            <a:ext cx="1463040" cy="274320"/>
          </a:xfrm>
          <a:prstGeom prst="ellipse">
            <a:avLst/>
          </a:prstGeom>
          <a:solidFill>
            <a:srgbClr val="009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6" name="Oval 15"/>
          <p:cNvSpPr/>
          <p:nvPr/>
        </p:nvSpPr>
        <p:spPr>
          <a:xfrm>
            <a:off x="3794760" y="4754880"/>
            <a:ext cx="1463040" cy="274320"/>
          </a:xfrm>
          <a:prstGeom prst="ellipse">
            <a:avLst/>
          </a:prstGeom>
          <a:solidFill>
            <a:srgbClr val="33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7" name="Oval 16"/>
          <p:cNvSpPr/>
          <p:nvPr/>
        </p:nvSpPr>
        <p:spPr>
          <a:xfrm>
            <a:off x="5394960" y="4754880"/>
            <a:ext cx="146304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Asterisk 20</a:t>
            </a:r>
          </a:p>
        </p:txBody>
      </p:sp>
      <p:sp>
        <p:nvSpPr>
          <p:cNvPr id="18" name="Oval 17"/>
          <p:cNvSpPr/>
          <p:nvPr/>
        </p:nvSpPr>
        <p:spPr>
          <a:xfrm>
            <a:off x="6995160" y="4754880"/>
            <a:ext cx="1463040" cy="274320"/>
          </a:xfrm>
          <a:prstGeom prst="ellipse">
            <a:avLst/>
          </a:prstGeom>
          <a:solidFill>
            <a:srgbClr val="029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9E"/>
                </a:solidFill>
              </a:rPr>
              <a:t>풀스택 개인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" cy="420624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3776" y="1188720"/>
            <a:ext cx="2743200" cy="4206240"/>
          </a:xfrm>
          <a:prstGeom prst="ellipse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</a:rPr>
              <a:t>🎯 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기업 콜센터 운영에 필요한
내선·IVR·큐·고객·상담 이력을
단일 플랫폼에서 통합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36576" cy="4206240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28416" y="1188720"/>
            <a:ext cx="2743200" cy="4206240"/>
          </a:xfrm>
          <a:prstGeom prst="ellipse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3"/>
                </a:solidFill>
              </a:rPr>
              <a:t>🏢  멀티 테넌트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74519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회사(테넌트)별 독립 데이터 격리
시스템 관리자 / 관리자 /
상담원 3단계 역할 체계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36576" cy="42062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63056" y="1188720"/>
            <a:ext cx="2743200" cy="4206240"/>
          </a:xfrm>
          <a:prstGeom prst="ellipse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📞  실시간 통화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Asterisk ARI WebSocket으로
통화 이벤트 실시간 수신
통화 상태·이력 자동 기록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188720"/>
            <a:ext cx="36576" cy="4206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97696" y="1188720"/>
            <a:ext cx="2743200" cy="4206240"/>
          </a:xfrm>
          <a:prstGeom prst="ellipse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🔐  권한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874519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계층형 권한 코드 시스템
메뉴 접근 / 기능 실행
세분화 제어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172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A9E"/>
                </a:solidFill>
              </a:rPr>
              <a:t>마이크로서비스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5669280"/>
            <a:ext cx="12700" cy="73152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11880" y="5577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6172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A9E"/>
                </a:solidFill>
              </a:rPr>
              <a:t>DB 테이블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5669280"/>
            <a:ext cx="12700" cy="73152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5577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</a:rPr>
              <a:t>40+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6172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A9E"/>
                </a:solidFill>
              </a:rPr>
              <a:t>REST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5669280"/>
            <a:ext cx="12700" cy="73152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23960" y="55778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</a:rPr>
              <a:t>10h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6172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A9E"/>
                </a:solidFill>
              </a:rPr>
              <a:t>JWT 세션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71600" y="1234440"/>
            <a:ext cx="9509760" cy="77724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234440"/>
            <a:ext cx="64008" cy="77724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13075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435608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B0BED1"/>
                </a:solidFill>
              </a:rPr>
              <a:t>Next.js</a:t>
            </a:r>
            <a:r>
              <a:rPr sz="1100" b="0" i="0" dirty="0">
                <a:solidFill>
                  <a:srgbClr val="B0BED1"/>
                </a:solidFill>
              </a:rPr>
              <a:t> 1  ·  React 19  ·  TypeScript  ·  </a:t>
            </a:r>
            <a:r>
              <a:rPr sz="1100" b="0" i="0" dirty="0" err="1">
                <a:solidFill>
                  <a:srgbClr val="B0BED1"/>
                </a:solidFill>
              </a:rPr>
              <a:t>Zustand</a:t>
            </a:r>
            <a:r>
              <a:rPr sz="1100" b="0" i="0" dirty="0">
                <a:solidFill>
                  <a:srgbClr val="B0BED1"/>
                </a:solidFill>
              </a:rPr>
              <a:t>  ·  Axios  ·  </a:t>
            </a:r>
            <a:r>
              <a:rPr sz="1100" b="0" i="0" dirty="0" err="1">
                <a:solidFill>
                  <a:srgbClr val="B0BED1"/>
                </a:solidFill>
              </a:rPr>
              <a:t>GoJS</a:t>
            </a:r>
            <a:endParaRPr sz="1100" b="0" i="0" dirty="0">
              <a:solidFill>
                <a:srgbClr val="B0BED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2057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D3F"/>
                </a:solidFill>
              </a:rPr>
              <a:t>↕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286000"/>
            <a:ext cx="9509760" cy="77724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0" y="2286000"/>
            <a:ext cx="64008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0200" y="2359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API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4871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FastAPI  ·  SQLAlchemy 2 (async)  ·  Alembic  ·  JWT HS256  ·  slowapi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08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D3F"/>
                </a:solidFill>
              </a:rPr>
              <a:t>↕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3337560"/>
            <a:ext cx="9509760" cy="77724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0" y="3337560"/>
            <a:ext cx="64008" cy="777240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00200" y="34107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3"/>
                </a:solidFill>
              </a:rPr>
              <a:t>ARI 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38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Python asyncio  ·  websockets  ·  httpx  ·  실시간 이벤트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D3F"/>
                </a:solidFill>
              </a:rPr>
              <a:t>↕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4389120"/>
            <a:ext cx="9509760" cy="77724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371600" y="4389120"/>
            <a:ext cx="64008" cy="7772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00200" y="4462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5902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PostgreSQL 16  ·  pbx_common 공유 ORM 모델  ·  17개 테이블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212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D3F"/>
                </a:solidFill>
              </a:rPr>
              <a:t>↕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5440680"/>
            <a:ext cx="9509760" cy="77724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371600" y="5440680"/>
            <a:ext cx="64008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0200" y="55138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Asterisk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6418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PJSIP  ·  ARI (REST Interface)  ·  res_config_pgsql  · 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80" y="1143000"/>
            <a:ext cx="3611880" cy="384048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1600200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</a:rPr>
              <a:t>Next.js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App Router · SSR · TypeScript 5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404872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597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</a:rPr>
              <a:t>React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5234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컴포넌트 기반 UI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209544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2644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</a:rPr>
              <a:t>Zustand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5701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전역 상태 (권한·활동상태)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4014216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0690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</a:rPr>
              <a:t>Axios 1.13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616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인터셉터로 403 시 권한 자동 갱신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4818888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</a:rPr>
              <a:t>GoJS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IVR 트리 다이어그램 시각화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623560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67842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</a:rPr>
              <a:t>Tailwind CSS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7103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스타일링</a:t>
            </a:r>
          </a:p>
        </p:txBody>
      </p:sp>
      <p:sp>
        <p:nvSpPr>
          <p:cNvPr id="28" name="Oval 27"/>
          <p:cNvSpPr/>
          <p:nvPr/>
        </p:nvSpPr>
        <p:spPr>
          <a:xfrm>
            <a:off x="4251960" y="1143000"/>
            <a:ext cx="3611880" cy="384048"/>
          </a:xfrm>
          <a:prstGeom prst="ellipse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51960" y="11430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30" name="Oval 29"/>
          <p:cNvSpPr/>
          <p:nvPr/>
        </p:nvSpPr>
        <p:spPr>
          <a:xfrm>
            <a:off x="4251960" y="1600200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1655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3"/>
                </a:solidFill>
              </a:rPr>
              <a:t>FastAPI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Python async REST API</a:t>
            </a:r>
          </a:p>
        </p:txBody>
      </p:sp>
      <p:sp>
        <p:nvSpPr>
          <p:cNvPr id="33" name="Oval 32"/>
          <p:cNvSpPr/>
          <p:nvPr/>
        </p:nvSpPr>
        <p:spPr>
          <a:xfrm>
            <a:off x="4251960" y="2404872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9120" y="24597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3"/>
                </a:solidFill>
              </a:rPr>
              <a:t>SQLAlchemy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275234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async ORM</a:t>
            </a:r>
          </a:p>
        </p:txBody>
      </p:sp>
      <p:sp>
        <p:nvSpPr>
          <p:cNvPr id="36" name="Oval 35"/>
          <p:cNvSpPr/>
          <p:nvPr/>
        </p:nvSpPr>
        <p:spPr>
          <a:xfrm>
            <a:off x="4251960" y="3209544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32644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3"/>
                </a:solidFill>
              </a:rPr>
              <a:t>Alembic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55701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DB 마이그레이션</a:t>
            </a:r>
          </a:p>
        </p:txBody>
      </p:sp>
      <p:sp>
        <p:nvSpPr>
          <p:cNvPr id="39" name="Oval 38"/>
          <p:cNvSpPr/>
          <p:nvPr/>
        </p:nvSpPr>
        <p:spPr>
          <a:xfrm>
            <a:off x="4251960" y="4014216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0690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3"/>
                </a:solidFill>
              </a:rPr>
              <a:t>JWT HS256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3616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10시간 토큰 인증</a:t>
            </a:r>
          </a:p>
        </p:txBody>
      </p:sp>
      <p:sp>
        <p:nvSpPr>
          <p:cNvPr id="42" name="Oval 41"/>
          <p:cNvSpPr/>
          <p:nvPr/>
        </p:nvSpPr>
        <p:spPr>
          <a:xfrm>
            <a:off x="4251960" y="4818888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89120" y="48737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3"/>
                </a:solidFill>
              </a:rPr>
              <a:t>Bcrypt+Pepper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1663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SHA-256 비밀번호 해싱</a:t>
            </a:r>
          </a:p>
        </p:txBody>
      </p:sp>
      <p:sp>
        <p:nvSpPr>
          <p:cNvPr id="45" name="Oval 44"/>
          <p:cNvSpPr/>
          <p:nvPr/>
        </p:nvSpPr>
        <p:spPr>
          <a:xfrm>
            <a:off x="4251960" y="5623560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89120" y="567842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3"/>
                </a:solidFill>
              </a:rPr>
              <a:t>slowapi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97103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Rate Limiting (5/min 로그인)</a:t>
            </a:r>
          </a:p>
        </p:txBody>
      </p:sp>
      <p:sp>
        <p:nvSpPr>
          <p:cNvPr id="48" name="Oval 47"/>
          <p:cNvSpPr/>
          <p:nvPr/>
        </p:nvSpPr>
        <p:spPr>
          <a:xfrm>
            <a:off x="8092440" y="1143000"/>
            <a:ext cx="3611880" cy="38404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92440" y="11430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Infra / PBX</a:t>
            </a:r>
          </a:p>
        </p:txBody>
      </p:sp>
      <p:sp>
        <p:nvSpPr>
          <p:cNvPr id="50" name="Oval 49"/>
          <p:cNvSpPr/>
          <p:nvPr/>
        </p:nvSpPr>
        <p:spPr>
          <a:xfrm>
            <a:off x="8092440" y="1600200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0" y="1655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PostgreSQL 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관계형 데이터베이스</a:t>
            </a:r>
          </a:p>
        </p:txBody>
      </p:sp>
      <p:sp>
        <p:nvSpPr>
          <p:cNvPr id="53" name="Oval 52"/>
          <p:cNvSpPr/>
          <p:nvPr/>
        </p:nvSpPr>
        <p:spPr>
          <a:xfrm>
            <a:off x="8092440" y="2404872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9600" y="24597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Asterisk 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275234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LTS PBX 엔진</a:t>
            </a:r>
          </a:p>
        </p:txBody>
      </p:sp>
      <p:sp>
        <p:nvSpPr>
          <p:cNvPr id="56" name="Oval 55"/>
          <p:cNvSpPr/>
          <p:nvPr/>
        </p:nvSpPr>
        <p:spPr>
          <a:xfrm>
            <a:off x="8092440" y="3209544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0" y="32644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Docker Compose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355701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컨테이너 오케스트레이션</a:t>
            </a:r>
          </a:p>
        </p:txBody>
      </p:sp>
      <p:sp>
        <p:nvSpPr>
          <p:cNvPr id="59" name="Oval 58"/>
          <p:cNvSpPr/>
          <p:nvPr/>
        </p:nvSpPr>
        <p:spPr>
          <a:xfrm>
            <a:off x="8092440" y="4014216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0" y="406908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PJSIP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3616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SIP 내선 엔드포인트</a:t>
            </a:r>
          </a:p>
        </p:txBody>
      </p:sp>
      <p:sp>
        <p:nvSpPr>
          <p:cNvPr id="62" name="Oval 61"/>
          <p:cNvSpPr/>
          <p:nvPr/>
        </p:nvSpPr>
        <p:spPr>
          <a:xfrm>
            <a:off x="8092440" y="4818888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29600" y="48737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ARI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516636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Asterisk REST Interface</a:t>
            </a:r>
          </a:p>
        </p:txBody>
      </p:sp>
      <p:sp>
        <p:nvSpPr>
          <p:cNvPr id="65" name="Oval 64"/>
          <p:cNvSpPr/>
          <p:nvPr/>
        </p:nvSpPr>
        <p:spPr>
          <a:xfrm>
            <a:off x="8092440" y="5623560"/>
            <a:ext cx="3611880" cy="71323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29600" y="567842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res_config_pgsql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97103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1"/>
                </a:solidFill>
              </a:rPr>
              <a:t>DB 기반 설정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주요 기능  ①  —  IVR &amp; 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IVR Tree &amp; Call 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BFF"/>
                </a:solidFill>
              </a:rPr>
              <a:t>IVR 흐름 편집기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530352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360" y="1664208"/>
            <a:ext cx="53035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664208"/>
            <a:ext cx="36576" cy="6217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DTMF 키 분기 트리 구조 — parent_id 자기 참조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414016"/>
            <a:ext cx="53035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414016"/>
            <a:ext cx="36576" cy="6217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532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노드 타입: menu / action / queue 연결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163824"/>
            <a:ext cx="53035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163824"/>
            <a:ext cx="36576" cy="6217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826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노드별 음성 파일 1:1 업로드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913632"/>
            <a:ext cx="53035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913632"/>
            <a:ext cx="36576" cy="6217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0325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프리셋 플로우 — 전 회사 공용 템플릿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4663440"/>
            <a:ext cx="53035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663440"/>
            <a:ext cx="36576" cy="6217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782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GoJS 캔버스 드래그앤드롭 시각 편집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5413248"/>
            <a:ext cx="53035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5413248"/>
            <a:ext cx="36576" cy="6217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CASCADE 삭제로 자식 노드 자동 정리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A3"/>
                </a:solidFill>
              </a:rPr>
              <a:t>콜 큐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554480"/>
            <a:ext cx="5120640" cy="19050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92240" y="1664208"/>
            <a:ext cx="5120640" cy="768096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92240" y="1664208"/>
            <a:ext cx="36576" cy="768096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18470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전략: rrmemory (Round-Robin) 등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2560320"/>
            <a:ext cx="5120640" cy="768096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92240" y="2560320"/>
            <a:ext cx="36576" cy="768096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2743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Ring 타임아웃 / Wrapup 시간 설정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3456432"/>
            <a:ext cx="5120640" cy="768096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92240" y="3456432"/>
            <a:ext cx="36576" cy="768096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0" y="3639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큐 멤버 추가 · 제거 · 일시정지 관리</a:t>
            </a:r>
          </a:p>
        </p:txBody>
      </p:sp>
      <p:sp>
        <p:nvSpPr>
          <p:cNvPr id="39" name="Oval 38"/>
          <p:cNvSpPr/>
          <p:nvPr/>
        </p:nvSpPr>
        <p:spPr>
          <a:xfrm>
            <a:off x="6492240" y="4352544"/>
            <a:ext cx="5120640" cy="768096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92240" y="4352544"/>
            <a:ext cx="36576" cy="768096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453542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PJSIP/{exten} 인터페이스 자동 매핑</a:t>
            </a:r>
          </a:p>
        </p:txBody>
      </p:sp>
      <p:sp>
        <p:nvSpPr>
          <p:cNvPr id="42" name="Oval 41"/>
          <p:cNvSpPr/>
          <p:nvPr/>
        </p:nvSpPr>
        <p:spPr>
          <a:xfrm>
            <a:off x="6492240" y="5248656"/>
            <a:ext cx="5120640" cy="768096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5248656"/>
            <a:ext cx="36576" cy="768096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54315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1"/>
                </a:solidFill>
              </a:rPr>
              <a:t>IVR 노드 → 큐 직접 연결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주요 기능  ②  —  실시간 상담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Real-time Consultation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2148840" cy="18288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2188952" cy="36576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360" y="1188720"/>
            <a:ext cx="2148840" cy="36576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2618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8B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6420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콜 인입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84831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ARI WebSocket
대기열 수신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D3F"/>
                </a:solidFill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2834640" y="1188720"/>
            <a:ext cx="2148840" cy="18288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34640" y="118872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71800" y="1188720"/>
            <a:ext cx="2148840" cy="3657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1800" y="12618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66420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고객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084831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전화번호 → DB 검색
프로필 자동 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D3F"/>
                </a:solidFill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5212080" y="1188720"/>
            <a:ext cx="2148840" cy="18288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0" y="1188720"/>
            <a:ext cx="12188952" cy="36576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349240" y="1188720"/>
            <a:ext cx="2148840" cy="36576"/>
          </a:xfrm>
          <a:prstGeom prst="ellipse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9240" y="12618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A3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166420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고객 등록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084831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미등록 시 즉시 등록
이름/전화/그룹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D3F"/>
                </a:solidFill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7589520" y="1188720"/>
            <a:ext cx="2148840" cy="18288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89520" y="1188720"/>
            <a:ext cx="12188952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26680" y="1188720"/>
            <a:ext cx="2148840" cy="36576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80" y="12618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8C42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166420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메모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2084831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카테고리 3단계 선택
자유 메모 입력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D3F"/>
                </a:solidFill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9966960" y="1188720"/>
            <a:ext cx="2148840" cy="18288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966960" y="1188720"/>
            <a:ext cx="12188952" cy="36576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104120" y="1188720"/>
            <a:ext cx="2148840" cy="36576"/>
          </a:xfrm>
          <a:prstGeom prst="ellipse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04120" y="12618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C4E99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166420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저장·종료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2084831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상담 이력 DB 저장
타이머 자동 기록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333756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BFF"/>
                </a:solidFill>
              </a:rPr>
              <a:t>상담 이력 버전 관리 (Immutable History)</a:t>
            </a:r>
          </a:p>
        </p:txBody>
      </p:sp>
      <p:sp>
        <p:nvSpPr>
          <p:cNvPr id="44" name="Oval 43"/>
          <p:cNvSpPr/>
          <p:nvPr/>
        </p:nvSpPr>
        <p:spPr>
          <a:xfrm>
            <a:off x="594360" y="3931920"/>
            <a:ext cx="10972800" cy="65836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94360" y="3931920"/>
            <a:ext cx="822960" cy="65836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4360" y="393192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수정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0690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기존 레코드 status → SUPERSEDED  +  신규 ACTIVE 레코드 생성 (original_id 참조)</a:t>
            </a:r>
          </a:p>
        </p:txBody>
      </p:sp>
      <p:sp>
        <p:nvSpPr>
          <p:cNvPr id="48" name="Oval 47"/>
          <p:cNvSpPr/>
          <p:nvPr/>
        </p:nvSpPr>
        <p:spPr>
          <a:xfrm>
            <a:off x="594360" y="4736592"/>
            <a:ext cx="10972800" cy="65836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94360" y="4736592"/>
            <a:ext cx="822960" cy="658368"/>
          </a:xfrm>
          <a:prstGeom prst="ellipse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736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삭제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487375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status → INACTIVE  (물리 삭제 없음, 이력 완전 보존)</a:t>
            </a:r>
          </a:p>
        </p:txBody>
      </p:sp>
      <p:sp>
        <p:nvSpPr>
          <p:cNvPr id="52" name="Oval 51"/>
          <p:cNvSpPr/>
          <p:nvPr/>
        </p:nvSpPr>
        <p:spPr>
          <a:xfrm>
            <a:off x="594360" y="5541264"/>
            <a:ext cx="10972800" cy="65836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94360" y="5541264"/>
            <a:ext cx="822960" cy="658368"/>
          </a:xfrm>
          <a:prstGeom prst="ellipse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5541264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조회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4480" y="567842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기본값: INACTIVE 제외  /  status 파라미터로 특정 버전 직접 조회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보안 &amp; 인증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Security &amp; Auth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</a:rPr>
              <a:t>비밀번호 해싱 파이프라인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664208"/>
            <a:ext cx="1920240" cy="45720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64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평문 비밀번호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7190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807208" y="1664208"/>
            <a:ext cx="1920240" cy="45720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1664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Pepper 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17190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020056" y="1664208"/>
            <a:ext cx="1920240" cy="45720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0056" y="1664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SHA-256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17190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7232904" y="1664208"/>
            <a:ext cx="1920240" cy="45720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32904" y="1664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Base64 인코딩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17190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445752" y="1664208"/>
            <a:ext cx="1920240" cy="457200"/>
          </a:xfrm>
          <a:prstGeom prst="ellipse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45752" y="1664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Bcrypt 해싱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</a:rPr>
              <a:t>JWT 페이로드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2880360"/>
            <a:ext cx="50292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29535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FF"/>
                </a:solidFill>
              </a:rPr>
              <a:t>sub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29535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계정 (account)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" y="3456432"/>
            <a:ext cx="50292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295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FF"/>
                </a:solidFill>
              </a:rPr>
              <a:t>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352958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사용자 이름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" y="4032504"/>
            <a:ext cx="50292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1056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FF"/>
                </a:solidFill>
              </a:rPr>
              <a:t>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10565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SYSTEM_ADMIN / MANAGER / AGENT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" y="4608576"/>
            <a:ext cx="50292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6817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FF"/>
                </a:solidFill>
              </a:rPr>
              <a:t>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68172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user.id</a:t>
            </a:r>
          </a:p>
        </p:txBody>
      </p:sp>
      <p:sp>
        <p:nvSpPr>
          <p:cNvPr id="36" name="Oval 35"/>
          <p:cNvSpPr/>
          <p:nvPr/>
        </p:nvSpPr>
        <p:spPr>
          <a:xfrm>
            <a:off x="594360" y="5184648"/>
            <a:ext cx="50292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2578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FF"/>
                </a:solidFill>
              </a:rPr>
              <a:t>company_id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52578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소속 회사 ID</a:t>
            </a:r>
          </a:p>
        </p:txBody>
      </p:sp>
      <p:sp>
        <p:nvSpPr>
          <p:cNvPr id="39" name="Oval 38"/>
          <p:cNvSpPr/>
          <p:nvPr/>
        </p:nvSpPr>
        <p:spPr>
          <a:xfrm>
            <a:off x="594360" y="5760720"/>
            <a:ext cx="50292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8338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FF"/>
                </a:solidFill>
              </a:rPr>
              <a:t>exp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8338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1"/>
                </a:solidFill>
              </a:rPr>
              <a:t>발급 후 10시간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3"/>
                </a:solidFill>
              </a:rPr>
              <a:t>권한 처리 흐름</a:t>
            </a:r>
          </a:p>
        </p:txBody>
      </p:sp>
      <p:sp>
        <p:nvSpPr>
          <p:cNvPr id="43" name="Oval 42"/>
          <p:cNvSpPr/>
          <p:nvPr/>
        </p:nvSpPr>
        <p:spPr>
          <a:xfrm>
            <a:off x="6492240" y="2880360"/>
            <a:ext cx="516636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29400" y="2971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① 로그인 시 권한 코드 목록 수신</a:t>
            </a:r>
          </a:p>
        </p:txBody>
      </p:sp>
      <p:sp>
        <p:nvSpPr>
          <p:cNvPr id="45" name="Oval 44"/>
          <p:cNvSpPr/>
          <p:nvPr/>
        </p:nvSpPr>
        <p:spPr>
          <a:xfrm>
            <a:off x="6492240" y="3456432"/>
            <a:ext cx="516636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29400" y="3547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② Zustand authStore 저장 (10h TTL)</a:t>
            </a:r>
          </a:p>
        </p:txBody>
      </p:sp>
      <p:sp>
        <p:nvSpPr>
          <p:cNvPr id="47" name="Oval 46"/>
          <p:cNvSpPr/>
          <p:nvPr/>
        </p:nvSpPr>
        <p:spPr>
          <a:xfrm>
            <a:off x="6492240" y="4032504"/>
            <a:ext cx="516636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29400" y="41239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③ hasPermission('code') 컴포넌트 단 제어</a:t>
            </a:r>
          </a:p>
        </p:txBody>
      </p:sp>
      <p:sp>
        <p:nvSpPr>
          <p:cNvPr id="49" name="Oval 48"/>
          <p:cNvSpPr/>
          <p:nvPr/>
        </p:nvSpPr>
        <p:spPr>
          <a:xfrm>
            <a:off x="6492240" y="4608576"/>
            <a:ext cx="516636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29400" y="47000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④ API 요청 시 Bearer 토큰 헤더 첨부</a:t>
            </a:r>
          </a:p>
        </p:txBody>
      </p:sp>
      <p:sp>
        <p:nvSpPr>
          <p:cNvPr id="51" name="Oval 50"/>
          <p:cNvSpPr/>
          <p:nvPr/>
        </p:nvSpPr>
        <p:spPr>
          <a:xfrm>
            <a:off x="6492240" y="5184648"/>
            <a:ext cx="516636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29400" y="52760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⑤ 백엔드 require_permission() 데코레이터 검증</a:t>
            </a:r>
          </a:p>
        </p:txBody>
      </p:sp>
      <p:sp>
        <p:nvSpPr>
          <p:cNvPr id="53" name="Oval 52"/>
          <p:cNvSpPr/>
          <p:nvPr/>
        </p:nvSpPr>
        <p:spPr>
          <a:xfrm>
            <a:off x="6492240" y="5760720"/>
            <a:ext cx="516636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29400" y="5852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⑥ 403 응답 시 /auth/me/permissions 자동 재조회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데이터베이스 스키마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Database Schema  ·  17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7200" y="11887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188720"/>
            <a:ext cx="1737360" cy="384048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2344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company_name · manager_name · use_callback · is_active · business_number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6459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645920"/>
            <a:ext cx="1737360" cy="384048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916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company_id · account · account_pw · exten · name · role · is_active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1031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103120"/>
            <a:ext cx="1737360" cy="384048"/>
          </a:xfrm>
          <a:prstGeom prst="ellipse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1488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company_id · name · phone · group(vip/normal/blacklist) · is_active · last_call_at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25603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560320"/>
            <a:ext cx="1737360" cy="38404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6060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id(UUID) · caller_exten · callee_exten · started_at · answered_at · ended_at · direction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0175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017520"/>
            <a:ext cx="1737360" cy="38404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0175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call_events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0632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call_id · ts · type · channel_id · raw(JSONB)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34747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474720"/>
            <a:ext cx="1737360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4747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queues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5204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company_id · name · strategy · timeout · wrapuptime · maxlen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39319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3931920"/>
            <a:ext cx="1737360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9319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ivr_flows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39776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company_id · name · is_preset · is_active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43891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389120"/>
            <a:ext cx="1737360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ivr_nodes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4348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flow_id · parent_id(자기참조) · queue_id · dtmf_key · node_type · config(JSONB)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48463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46320"/>
            <a:ext cx="1737360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46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consultations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48920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call_id · agent_id · original_id · category_id · memo · status(ACTIVE/SUPERSEDED/INACTIVE)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" y="53035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303520"/>
            <a:ext cx="1737360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3035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consult_categories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53492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company_id · parent_id(3단계) · name · depth</a:t>
            </a:r>
          </a:p>
        </p:txBody>
      </p:sp>
      <p:sp>
        <p:nvSpPr>
          <p:cNvPr id="48" name="Oval 47"/>
          <p:cNvSpPr/>
          <p:nvPr/>
        </p:nvSpPr>
        <p:spPr>
          <a:xfrm>
            <a:off x="457200" y="57607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57200" y="5760720"/>
            <a:ext cx="1737360" cy="384048"/>
          </a:xfrm>
          <a:prstGeom prst="ellipse">
            <a:avLst/>
          </a:prstGeom>
          <a:solidFill>
            <a:srgbClr val="7A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57607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permissions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8064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id · parent_id · code(unique) · name · type(MENU/ACTION)</a:t>
            </a:r>
          </a:p>
        </p:txBody>
      </p:sp>
      <p:sp>
        <p:nvSpPr>
          <p:cNvPr id="52" name="Oval 51"/>
          <p:cNvSpPr/>
          <p:nvPr/>
        </p:nvSpPr>
        <p:spPr>
          <a:xfrm>
            <a:off x="457200" y="6217920"/>
            <a:ext cx="11338560" cy="384048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57200" y="6217920"/>
            <a:ext cx="1737360" cy="384048"/>
          </a:xfrm>
          <a:prstGeom prst="ellipse">
            <a:avLst/>
          </a:prstGeom>
          <a:solidFill>
            <a:srgbClr val="7A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2179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user_status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6263640"/>
            <a:ext cx="9326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1"/>
                </a:solidFill>
              </a:rPr>
              <a:t>user_id(PK/FK) · login_status · activity · last_login_at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1905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Asterisk ARI Worker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9E"/>
                </a:solidFill>
              </a:rPr>
              <a:t>실시간 통화 이벤트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286000"/>
            <a:ext cx="10972800" cy="2540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1691640"/>
            <a:ext cx="2377440" cy="11887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23774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Asterisk 20
ARI 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10312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1691640"/>
            <a:ext cx="2377440" cy="11887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691640"/>
            <a:ext cx="2377440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8BFF"/>
                </a:solidFill>
              </a:rPr>
              <a:t>parser.py
ParseEvent 파싱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10312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1691640"/>
            <a:ext cx="2377440" cy="11887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691640"/>
            <a:ext cx="2377440" cy="54864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A3"/>
                </a:solidFill>
              </a:rPr>
              <a:t>call_service.py
이벤트 처리 &amp; 상태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10312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235440" y="1691640"/>
            <a:ext cx="2377440" cy="11887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1691640"/>
            <a:ext cx="237744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C42"/>
                </a:solidFill>
              </a:rPr>
              <a:t>call_recorder.py
PostgreSQL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</a:rPr>
              <a:t>처리 ARI 이벤트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3639312"/>
            <a:ext cx="109728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94360" y="3639312"/>
            <a:ext cx="2194560" cy="50292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6393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StasisStart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3075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신규 채널 진입 — 통화 추적 시작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" y="4233672"/>
            <a:ext cx="109728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94360" y="4233672"/>
            <a:ext cx="219456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ChannelStateChange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3251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채널 상태 변경 — 통화 상태 업데이트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" y="4828032"/>
            <a:ext cx="109728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4360" y="4828032"/>
            <a:ext cx="2194560" cy="502920"/>
          </a:xfrm>
          <a:prstGeom prst="ellipse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48280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BridgeCreated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91947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브릿지 생성 — 양방향 통화 확립</a:t>
            </a:r>
          </a:p>
        </p:txBody>
      </p:sp>
      <p:sp>
        <p:nvSpPr>
          <p:cNvPr id="37" name="Oval 36"/>
          <p:cNvSpPr/>
          <p:nvPr/>
        </p:nvSpPr>
        <p:spPr>
          <a:xfrm>
            <a:off x="594360" y="5422392"/>
            <a:ext cx="109728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4360" y="5422392"/>
            <a:ext cx="2194560" cy="5029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54223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ChannelLeftBridge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51383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브릿지 이탈 — 통화 종료 처리</a:t>
            </a:r>
          </a:p>
        </p:txBody>
      </p:sp>
      <p:sp>
        <p:nvSpPr>
          <p:cNvPr id="41" name="Oval 40"/>
          <p:cNvSpPr/>
          <p:nvPr/>
        </p:nvSpPr>
        <p:spPr>
          <a:xfrm>
            <a:off x="594360" y="6016752"/>
            <a:ext cx="10972800" cy="50292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94360" y="6016752"/>
            <a:ext cx="2194560" cy="502920"/>
          </a:xfrm>
          <a:prstGeom prst="ellipse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601675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ChannelHangup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610819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1"/>
                </a:solidFill>
              </a:rPr>
              <a:t>채널 Hangup — 종료 사유 기록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풀스택 단독 설계 ·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Frontend  ·  Backend  ·  ARI Worker  ·  Infra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19050"/>
          </a:xfrm>
          <a:prstGeom prst="rect">
            <a:avLst/>
          </a:prstGeom>
          <a:solidFill>
            <a:srgbClr val="21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71600" y="3291840"/>
            <a:ext cx="94183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3291840"/>
            <a:ext cx="45720" cy="62179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341985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D1"/>
                </a:solidFill>
              </a:rPr>
              <a:t>Next.js 14 App Router  ·  FastAPI async  ·  Asterisk 20 ARI 실시간 연동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096512"/>
            <a:ext cx="94183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4096512"/>
            <a:ext cx="45720" cy="621792"/>
          </a:xfrm>
          <a:prstGeom prst="rect">
            <a:avLst/>
          </a:prstGeom>
          <a:solidFill>
            <a:srgbClr val="00E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42245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D1"/>
                </a:solidFill>
              </a:rPr>
              <a:t>멀티 테넌트 접근 제어  ·  계층형 권한 시스템  ·  상담 이력 버전 관리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901184"/>
            <a:ext cx="9418320" cy="621792"/>
          </a:xfrm>
          <a:prstGeom prst="ellipse">
            <a:avLst/>
          </a:prstGeom>
          <a:solidFill>
            <a:srgbClr val="161B27"/>
          </a:solidFill>
          <a:ln w="12700">
            <a:solidFill>
              <a:srgbClr val="21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0" y="4901184"/>
            <a:ext cx="45720" cy="6217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502920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D1"/>
                </a:solidFill>
              </a:rPr>
              <a:t>Docker 기반 인프라  ·  JWT 인증  ·  Bcrypt+Pepper+SHA-256 보안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8A9E"/>
                </a:solidFill>
              </a:rPr>
              <a:t>github.com/jang-yeong-wan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1072</Words>
  <Application>Microsoft Macintosh PowerPoint</Application>
  <PresentationFormat>사용자 지정</PresentationFormat>
  <Paragraphs>212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장 영완</cp:lastModifiedBy>
  <cp:revision>2</cp:revision>
  <dcterms:created xsi:type="dcterms:W3CDTF">2013-01-27T09:14:16Z</dcterms:created>
  <dcterms:modified xsi:type="dcterms:W3CDTF">2026-03-26T23:45:39Z</dcterms:modified>
  <cp:category/>
</cp:coreProperties>
</file>